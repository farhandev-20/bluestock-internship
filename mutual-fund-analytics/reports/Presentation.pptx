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/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Capstone Project</a:t>
            </a:r>
            <a:br/>
            <a:r>
              <a:t>Data Engineering • Analytics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Integrate mutual fund, market and investor datasets into one analytical workflow.</a:t>
            </a:r>
          </a:p>
          <a:p>
            <a:pPr>
              <a:spcAft>
                <a:spcPts val="1200"/>
              </a:spcAft>
              <a:defRPr sz="2100"/>
            </a:pPr>
            <a:r>
              <a:t>Clean and validate data before analysis.</a:t>
            </a:r>
          </a:p>
          <a:p>
            <a:pPr>
              <a:spcAft>
                <a:spcPts val="1200"/>
              </a:spcAft>
              <a:defRPr sz="2100"/>
            </a:pPr>
            <a:r>
              <a:t>Calculate performance and risk metrics with transparent methodology.</a:t>
            </a:r>
          </a:p>
          <a:p>
            <a:pPr>
              <a:spcAft>
                <a:spcPts val="1200"/>
              </a:spcAft>
              <a:defRPr sz="2100"/>
            </a:pPr>
            <a:r>
              <a:t>Analyze investor retention and build a rule-based recommendation model.</a:t>
            </a:r>
          </a:p>
          <a:p>
            <a:pPr>
              <a:spcAft>
                <a:spcPts val="1200"/>
              </a:spcAft>
              <a:defRPr sz="2100"/>
            </a:pPr>
            <a:r>
              <a:t>Deliver an interactive four-page Power BI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Fund master and scheme performance</a:t>
            </a:r>
          </a:p>
          <a:p>
            <a:pPr>
              <a:spcAft>
                <a:spcPts val="1200"/>
              </a:spcAft>
              <a:defRPr sz="2100"/>
            </a:pPr>
            <a:r>
              <a:t>Historical NAV and benchmark indices</a:t>
            </a:r>
          </a:p>
          <a:p>
            <a:pPr>
              <a:spcAft>
                <a:spcPts val="1200"/>
              </a:spcAft>
              <a:defRPr sz="2100"/>
            </a:pPr>
            <a:r>
              <a:t>AUM by fund house and SIP inflows</a:t>
            </a:r>
          </a:p>
          <a:p>
            <a:pPr>
              <a:spcAft>
                <a:spcPts val="1200"/>
              </a:spcAft>
              <a:defRPr sz="2100"/>
            </a:pPr>
            <a:r>
              <a:t>Category inflows and industry folio counts</a:t>
            </a:r>
          </a:p>
          <a:p>
            <a:pPr>
              <a:spcAft>
                <a:spcPts val="1200"/>
              </a:spcAft>
              <a:defRPr sz="2100"/>
            </a:pPr>
            <a:r>
              <a:t>Portfolio holdings and investor transactions</a:t>
            </a:r>
          </a:p>
          <a:p>
            <a:pPr>
              <a:spcAft>
                <a:spcPts val="1200"/>
              </a:spcAft>
              <a:defRPr sz="2100"/>
            </a:pPr>
            <a:r>
              <a:t>Selected live NAV data fetched through MFAPI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 &amp;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Raw CSV files → data/raw</a:t>
            </a:r>
          </a:p>
          <a:p>
            <a:pPr>
              <a:spcAft>
                <a:spcPts val="1200"/>
              </a:spcAft>
              <a:defRPr sz="2100"/>
            </a:pPr>
            <a:r>
              <a:t>ETL cleaning → data/processed</a:t>
            </a:r>
          </a:p>
          <a:p>
            <a:pPr>
              <a:spcAft>
                <a:spcPts val="1200"/>
              </a:spcAft>
              <a:defRPr sz="2100"/>
            </a:pPr>
            <a:r>
              <a:t>SQLite schema → data/db</a:t>
            </a:r>
          </a:p>
          <a:p>
            <a:pPr>
              <a:spcAft>
                <a:spcPts val="1200"/>
              </a:spcAft>
              <a:defRPr sz="2100"/>
            </a:pPr>
            <a:r>
              <a:t>Analytics scripts → metrics, VaR, recommendations</a:t>
            </a:r>
          </a:p>
          <a:p>
            <a:pPr>
              <a:spcAft>
                <a:spcPts val="1200"/>
              </a:spcAft>
              <a:defRPr sz="2100"/>
            </a:pPr>
            <a:r>
              <a:t>Power BI → interactive reporting</a:t>
            </a:r>
          </a:p>
          <a:p>
            <a:pPr>
              <a:spcAft>
                <a:spcPts val="1200"/>
              </a:spcAft>
              <a:defRPr sz="2100"/>
            </a:pPr>
            <a:r>
              <a:t>run_pipeline.py orchestrates the main Python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EDA Highlights — Market &amp; Fund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Fund-house AUM comparison</a:t>
            </a:r>
          </a:p>
          <a:p>
            <a:pPr>
              <a:spcAft>
                <a:spcPts val="1200"/>
              </a:spcAft>
              <a:defRPr sz="2100"/>
            </a:pPr>
            <a:r>
              <a:t>SIP inflow trend analysis</a:t>
            </a:r>
          </a:p>
          <a:p>
            <a:pPr>
              <a:spcAft>
                <a:spcPts val="1200"/>
              </a:spcAft>
              <a:defRPr sz="2100"/>
            </a:pPr>
            <a:r>
              <a:t>Category-level net inflow analysis</a:t>
            </a:r>
          </a:p>
          <a:p>
            <a:pPr>
              <a:spcAft>
                <a:spcPts val="1200"/>
              </a:spcAft>
              <a:defRPr sz="2100"/>
            </a:pPr>
            <a:r>
              <a:t>Scheme 3-year return comparison</a:t>
            </a:r>
          </a:p>
          <a:p>
            <a:pPr>
              <a:spcAft>
                <a:spcPts val="1200"/>
              </a:spcAft>
              <a:defRPr sz="2100"/>
            </a:pPr>
            <a:r>
              <a:t>NAV time-series exploration</a:t>
            </a:r>
          </a:p>
          <a:p>
            <a:pPr>
              <a:spcAft>
                <a:spcPts val="1200"/>
              </a:spcAft>
              <a:defRPr sz="2100"/>
            </a:pPr>
            <a:r>
              <a:t>Correlation analysis across key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EDA Highlights — Investor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Transaction activity by type</a:t>
            </a:r>
          </a:p>
          <a:p>
            <a:pPr>
              <a:spcAft>
                <a:spcPts val="1200"/>
              </a:spcAft>
              <a:defRPr sz="2100"/>
            </a:pPr>
            <a:r>
              <a:t>Investor distribution by state and city tier</a:t>
            </a:r>
          </a:p>
          <a:p>
            <a:pPr>
              <a:spcAft>
                <a:spcPts val="1200"/>
              </a:spcAft>
              <a:defRPr sz="2100"/>
            </a:pPr>
            <a:r>
              <a:t>SIP activity and YoY growth</a:t>
            </a:r>
          </a:p>
          <a:p>
            <a:pPr>
              <a:spcAft>
                <a:spcPts val="1200"/>
              </a:spcAft>
              <a:defRPr sz="2100"/>
            </a:pPr>
            <a:r>
              <a:t>Cohort formation based on first transaction month</a:t>
            </a:r>
          </a:p>
          <a:p>
            <a:pPr>
              <a:spcAft>
                <a:spcPts val="1200"/>
              </a:spcAft>
              <a:defRPr sz="2100"/>
            </a:pPr>
            <a:r>
              <a:t>Retention measured across months since cohort entry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Performance Metrics —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CAGR uses actual elapsed years between observations.</a:t>
            </a:r>
          </a:p>
          <a:p>
            <a:pPr>
              <a:spcAft>
                <a:spcPts val="1200"/>
              </a:spcAft>
              <a:defRPr sz="2100"/>
            </a:pPr>
            <a:r>
              <a:t>1-year, 3-year and 5-year returns are available in the supplied performance data.</a:t>
            </a:r>
          </a:p>
          <a:p>
            <a:pPr>
              <a:spcAft>
                <a:spcPts val="1200"/>
              </a:spcAft>
              <a:defRPr sz="2100"/>
            </a:pPr>
            <a:r>
              <a:t>Annualized volatility is calculated from daily returns using √252.</a:t>
            </a:r>
          </a:p>
          <a:p>
            <a:pPr>
              <a:spcAft>
                <a:spcPts val="1200"/>
              </a:spcAft>
              <a:defRPr sz="2100"/>
            </a:pPr>
            <a:r>
              <a:t>Maximum drawdown captures the largest peak-to-trough decline.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Performance Metrics —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Historical 95% daily VaR uses the empirical 5th percentile of daily returns.</a:t>
            </a:r>
          </a:p>
          <a:p>
            <a:pPr>
              <a:spcAft>
                <a:spcPts val="1200"/>
              </a:spcAft>
              <a:defRPr sz="2100"/>
            </a:pPr>
            <a:r>
              <a:t>Beta is calculated against an aligned NIFTY100 benchmark when available.</a:t>
            </a:r>
          </a:p>
          <a:p>
            <a:pPr>
              <a:spcAft>
                <a:spcPts val="1200"/>
              </a:spcAft>
              <a:defRPr sz="2100"/>
            </a:pPr>
            <a:r>
              <a:t>Sharpe ratio is annualized from daily returns.</a:t>
            </a:r>
          </a:p>
          <a:p>
            <a:pPr>
              <a:spcAft>
                <a:spcPts val="1200"/>
              </a:spcAft>
              <a:defRPr sz="2100"/>
            </a:pPr>
            <a:r>
              <a:t>Zero risk-free rate is assumed because no risk-free series was supplied.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Dashboard — Executive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Page 1: Executive Overview</a:t>
            </a:r>
          </a:p>
          <a:p>
            <a:pPr>
              <a:spcAft>
                <a:spcPts val="1200"/>
              </a:spcAft>
              <a:defRPr sz="2100"/>
            </a:pPr>
            <a:r>
              <a:t>Page 2: Fund Performance &amp; Risk</a:t>
            </a:r>
          </a:p>
          <a:p>
            <a:pPr>
              <a:spcAft>
                <a:spcPts val="1200"/>
              </a:spcAft>
              <a:defRPr sz="2100"/>
            </a:pPr>
            <a:r>
              <a:t>Interactive slicers support filtering by relevant fund dimensions.</a:t>
            </a:r>
          </a:p>
          <a:p>
            <a:pPr>
              <a:spcAft>
                <a:spcPts val="1200"/>
              </a:spcAft>
              <a:defRPr sz="2100"/>
            </a:pPr>
            <a:r>
              <a:t>Views combine summary indicators, returns, risk and AUM.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Dashboard — Investor &amp; Advanced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Page 3: Investor &amp; SIP Analytics</a:t>
            </a:r>
          </a:p>
          <a:p>
            <a:pPr>
              <a:spcAft>
                <a:spcPts val="1200"/>
              </a:spcAft>
              <a:defRPr sz="2100"/>
            </a:pPr>
            <a:r>
              <a:t>Page 4: Advanced Analytics</a:t>
            </a:r>
          </a:p>
          <a:p>
            <a:pPr>
              <a:spcAft>
                <a:spcPts val="1200"/>
              </a:spcAft>
              <a:defRPr sz="2100"/>
            </a:pPr>
            <a:r>
              <a:t>Includes SIP trends, transaction activity, VaR, cohort retention and recommendation analysis.</a:t>
            </a:r>
          </a:p>
          <a:p>
            <a:pPr>
              <a:spcAft>
                <a:spcPts val="1200"/>
              </a:spcAft>
              <a:defRPr sz="2100"/>
            </a:pPr>
            <a:r>
              <a:t>Power BI file: dashboard/bluestock_mf_capstone.pbix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Use data-quality checks as a standard step before analytics.</a:t>
            </a:r>
          </a:p>
          <a:p>
            <a:pPr>
              <a:spcAft>
                <a:spcPts val="1200"/>
              </a:spcAft>
              <a:defRPr sz="2100"/>
            </a:pPr>
            <a:r>
              <a:t>Interpret return together with volatility, drawdown and risk-adjusted measures.</a:t>
            </a:r>
          </a:p>
          <a:p>
            <a:pPr>
              <a:spcAft>
                <a:spcPts val="1200"/>
              </a:spcAft>
              <a:defRPr sz="2100"/>
            </a:pPr>
            <a:r>
              <a:t>Use cohort analysis to understand continued transaction activity.</a:t>
            </a:r>
          </a:p>
          <a:p>
            <a:pPr>
              <a:spcAft>
                <a:spcPts val="1200"/>
              </a:spcAft>
              <a:defRPr sz="2100"/>
            </a:pPr>
            <a:r>
              <a:t>Treat the recommendation score as an analytical screening tool, not personalized financial advice.</a:t>
            </a:r>
          </a:p>
          <a:p>
            <a:pPr>
              <a:spcAft>
                <a:spcPts val="1200"/>
              </a:spcAft>
              <a:defRPr sz="2100"/>
            </a:pPr>
            <a:r>
              <a:t>Future extensions can include scheduled pipelines, Streamlit, Monte Carlo and portfolio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Bluestock Mutual Fund Analytics Capstone</a:t>
            </a:r>
          </a:p>
          <a:p>
            <a:pPr>
              <a:spcAft>
                <a:spcPts val="1200"/>
              </a:spcAft>
              <a:defRPr sz="2100"/>
            </a:pPr>
            <a:r>
              <a:t>Deliverables: Python notebooks and scripts, SQL, Power BI dashboard, final report and presentation</a:t>
            </a:r>
          </a:p>
          <a:p>
            <a:pPr>
              <a:spcAft>
                <a:spcPts val="1200"/>
              </a:spcAft>
              <a:defRPr sz="2100"/>
            </a:pPr>
            <a:r>
              <a:t>GitHub: github.com/farhandev-20/mutual-fund-analytics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